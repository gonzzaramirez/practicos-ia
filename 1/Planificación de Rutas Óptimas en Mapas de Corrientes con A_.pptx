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</p:sldIdLst>
  <p:sldSz cy="8229600" cx="14630400"/>
  <p:notesSz cx="8229600" cy="14630400"/>
  <p:embeddedFontLst>
    <p:embeddedFont>
      <p:font typeface="Montserrat"/>
      <p:regular r:id="rId7"/>
      <p:bold r:id="rId8"/>
      <p:italic r:id="rId9"/>
      <p:boldItalic r:id="rId10"/>
    </p:embeddedFont>
    <p:embeddedFont>
      <p:font typeface="Source Sans 3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16">
          <p15:clr>
            <a:srgbClr val="747775"/>
          </p15:clr>
        </p15:guide>
        <p15:guide id="2" orient="horz" pos="2376">
          <p15:clr>
            <a:srgbClr val="747775"/>
          </p15:clr>
        </p15:guide>
        <p15:guide id="3" orient="horz" pos="3840">
          <p15:clr>
            <a:srgbClr val="747775"/>
          </p15:clr>
        </p15:guide>
        <p15:guide id="4" orient="horz" pos="2617">
          <p15:clr>
            <a:srgbClr val="747775"/>
          </p15:clr>
        </p15:guide>
        <p15:guide id="5" orient="horz" pos="1880">
          <p15:clr>
            <a:srgbClr val="747775"/>
          </p15:clr>
        </p15:guide>
        <p15:guide id="6" orient="horz" pos="1135">
          <p15:clr>
            <a:srgbClr val="747775"/>
          </p15:clr>
        </p15:guide>
        <p15:guide id="7" orient="horz" pos="133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16" orient="horz"/>
        <p:guide pos="2376" orient="horz"/>
        <p:guide pos="3840" orient="horz"/>
        <p:guide pos="2617" orient="horz"/>
        <p:guide pos="1880" orient="horz"/>
        <p:guide pos="1135" orient="horz"/>
        <p:guide pos="133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SourceSans3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SourceSans3-italic.fntdata"/><Relationship Id="rId12" Type="http://schemas.openxmlformats.org/officeDocument/2006/relationships/font" Target="fonts/SourceSans3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4" Type="http://schemas.openxmlformats.org/officeDocument/2006/relationships/font" Target="fonts/SourceSans3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400" y="4876758"/>
            <a:ext cx="1806300" cy="1218600"/>
          </a:xfrm>
          <a:prstGeom prst="roundRect">
            <a:avLst>
              <a:gd fmla="val 48010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1861403" y="4874609"/>
            <a:ext cx="1806300" cy="1218600"/>
          </a:xfrm>
          <a:prstGeom prst="roundRect">
            <a:avLst>
              <a:gd fmla="val 48010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547940" y="84653"/>
            <a:ext cx="9141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tserrat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de Rutas Óptimas en Mapas de Corrientes con A*</a:t>
            </a:r>
            <a:endParaRPr b="0" i="0" sz="2200" u="none" cap="none" strike="noStrike"/>
          </a:p>
        </p:txBody>
      </p:sp>
      <p:sp>
        <p:nvSpPr>
          <p:cNvPr id="23" name="Google Shape;23;p4"/>
          <p:cNvSpPr/>
          <p:nvPr/>
        </p:nvSpPr>
        <p:spPr>
          <a:xfrm>
            <a:off x="102800" y="614875"/>
            <a:ext cx="63681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En la navegación moderna, la eficiencia es clave. Al trazar rutas en mapas dinámicos de corrientes, un camino inteligente es esencial para evitar ineficiencias, rutas largas y altos costos computacionales.</a:t>
            </a:r>
            <a:endParaRPr i="0" sz="1600" u="none" cap="none" strike="noStrike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74632" y="1682112"/>
            <a:ext cx="5336700" cy="1218600"/>
          </a:xfrm>
          <a:prstGeom prst="roundRect">
            <a:avLst>
              <a:gd fmla="val 8158" name="adj"/>
            </a:avLst>
          </a:prstGeom>
          <a:solidFill>
            <a:srgbClr val="111213"/>
          </a:solidFill>
          <a:ln cap="flat" cmpd="sng" w="15225">
            <a:solidFill>
              <a:srgbClr val="494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62709" y="1682119"/>
            <a:ext cx="5240108" cy="1218651"/>
            <a:chOff x="416600" y="1260753"/>
            <a:chExt cx="6698336" cy="896660"/>
          </a:xfrm>
        </p:grpSpPr>
        <p:sp>
          <p:nvSpPr>
            <p:cNvPr id="26" name="Google Shape;26;p4"/>
            <p:cNvSpPr/>
            <p:nvPr/>
          </p:nvSpPr>
          <p:spPr>
            <a:xfrm>
              <a:off x="416600" y="1260753"/>
              <a:ext cx="60960" cy="896660"/>
            </a:xfrm>
            <a:prstGeom prst="roundRect">
              <a:avLst>
                <a:gd fmla="val 3036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616134" y="1399351"/>
              <a:ext cx="4085700" cy="17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2727"/>
                </a:lnSpc>
                <a:spcBef>
                  <a:spcPts val="0"/>
                </a:spcBef>
                <a:spcAft>
                  <a:spcPts val="0"/>
                </a:spcAft>
                <a:buClr>
                  <a:srgbClr val="E2E6E9"/>
                </a:buClr>
                <a:buSzPts val="1100"/>
                <a:buFont typeface="Montserrat"/>
                <a:buNone/>
              </a:pPr>
              <a:r>
                <a:rPr b="1" i="0" lang="en-US" sz="1500" u="none" cap="none" strike="noStrike">
                  <a:solidFill>
                    <a:srgbClr val="E2E6E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El Problema: Rutas Ineficientes</a:t>
              </a:r>
              <a:endParaRPr i="0" sz="1500" u="none" cap="none" strike="noStrike"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616148" y="1648539"/>
              <a:ext cx="6498788" cy="370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2631"/>
                </a:lnSpc>
                <a:spcBef>
                  <a:spcPts val="0"/>
                </a:spcBef>
                <a:spcAft>
                  <a:spcPts val="0"/>
                </a:spcAft>
                <a:buClr>
                  <a:srgbClr val="E2E6E9"/>
                </a:buClr>
                <a:buSzPts val="950"/>
                <a:buFont typeface="Source Sans 3"/>
                <a:buNone/>
              </a:pPr>
              <a:r>
                <a:rPr i="0" lang="en-US" sz="950" u="none" cap="none" strike="noStrike">
                  <a:solidFill>
                    <a:srgbClr val="E2E6E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El desafío es hallar la ruta óptima entre dos puntos en un mapa de corrientes. Sin un algoritmo informado, la exploración exhaustiva resultaría en rutas más largas y un consumo excesivo de recursos.</a:t>
              </a:r>
              <a:endParaRPr i="0" sz="950" u="none" cap="none" strike="noStrike"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sp>
        <p:nvSpPr>
          <p:cNvPr id="29" name="Google Shape;29;p4"/>
          <p:cNvSpPr/>
          <p:nvPr/>
        </p:nvSpPr>
        <p:spPr>
          <a:xfrm>
            <a:off x="77803" y="2984950"/>
            <a:ext cx="5336700" cy="1218600"/>
          </a:xfrm>
          <a:prstGeom prst="roundRect">
            <a:avLst>
              <a:gd fmla="val 8158" name="adj"/>
            </a:avLst>
          </a:prstGeom>
          <a:solidFill>
            <a:srgbClr val="111213"/>
          </a:solidFill>
          <a:ln cap="flat" cmpd="sng" w="15225">
            <a:solidFill>
              <a:srgbClr val="494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2560" y="2984946"/>
            <a:ext cx="60900" cy="1218600"/>
          </a:xfrm>
          <a:prstGeom prst="roundRect">
            <a:avLst>
              <a:gd fmla="val 303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92584" y="3139922"/>
            <a:ext cx="185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La Solución: Algoritmo A*</a:t>
            </a:r>
            <a:endParaRPr b="0" i="0" sz="11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192579" y="3378125"/>
            <a:ext cx="47907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i="0" lang="en-US" sz="11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Empleamos el algoritmo A*, un método de búsqueda informado. Este combina el costo real de la ruta recorrida con una estimación heurística del costo restante. Así, A* minimiza la exploración de nodos y acelera la búsqueda de la ruta óptima.</a:t>
            </a:r>
            <a:endParaRPr i="0" sz="1100" u="none" cap="none" strike="noStrike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690" y="4264138"/>
            <a:ext cx="3626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Fundamentos del Algoritmo A*</a:t>
            </a:r>
            <a:endParaRPr b="0" i="0" sz="1750" u="none" cap="none" strike="noStrike"/>
          </a:p>
        </p:txBody>
      </p:sp>
      <p:sp>
        <p:nvSpPr>
          <p:cNvPr id="34" name="Google Shape;34;p4"/>
          <p:cNvSpPr/>
          <p:nvPr/>
        </p:nvSpPr>
        <p:spPr>
          <a:xfrm>
            <a:off x="50334" y="4532711"/>
            <a:ext cx="53517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i="0" lang="en-US" sz="12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algoritmo A* evalúa cada nodo 'n' utilizando la función: </a:t>
            </a:r>
            <a:r>
              <a:rPr i="0" lang="en-US" sz="1200" u="none" cap="none" strike="noStrike">
                <a:solidFill>
                  <a:srgbClr val="E2E6E9"/>
                </a:solidFill>
                <a:highlight>
                  <a:srgbClr val="1E1F20"/>
                </a:highlight>
                <a:latin typeface="Source Sans 3"/>
                <a:ea typeface="Source Sans 3"/>
                <a:cs typeface="Source Sans 3"/>
                <a:sym typeface="Source Sans 3"/>
              </a:rPr>
              <a:t>f(n) = g(n) + h(n)</a:t>
            </a:r>
            <a:r>
              <a:rPr i="0" lang="en-US" sz="12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i="0" sz="1200" u="none" cap="none" strike="noStrike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5989" y="6301811"/>
            <a:ext cx="4623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A* en Acción: Comparación con Dijkstra</a:t>
            </a:r>
            <a:endParaRPr i="0" sz="1750" u="none" cap="none" strike="noStrike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7800" y="6634606"/>
            <a:ext cx="39651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b="0" i="0" lang="en-US" sz="15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A* utiliza una heurística para orientar la búsqueda, reduciendo drásticamente el área explorada y acelerando el proceso frente a la exploración uniforme de Dijkstra.</a:t>
            </a:r>
            <a:endParaRPr b="0" i="0" sz="1500" u="none" cap="none" strike="noStrike"/>
          </a:p>
        </p:txBody>
      </p:sp>
      <p:sp>
        <p:nvSpPr>
          <p:cNvPr id="37" name="Google Shape;37;p4"/>
          <p:cNvSpPr/>
          <p:nvPr/>
        </p:nvSpPr>
        <p:spPr>
          <a:xfrm>
            <a:off x="8704399" y="755945"/>
            <a:ext cx="3793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Aplicación Práctica y Relevancia</a:t>
            </a:r>
            <a:endParaRPr b="0" i="0" sz="175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6945750" y="1036450"/>
            <a:ext cx="72504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lang="en-US" sz="16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Esta </a:t>
            </a:r>
            <a:r>
              <a:rPr i="0" lang="en-US" sz="16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implementación de A* guía la búsqueda con una heurística espacial, resultando en rutas eficientes. Este enfoque es similar a sistemas de navegación como Google Maps, que optimizan rutas en grafos complejos.</a:t>
            </a:r>
            <a:endParaRPr i="0" sz="1600" u="none" cap="none" strike="noStrike"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769247" y="4881390"/>
            <a:ext cx="1806300" cy="1218600"/>
          </a:xfrm>
          <a:prstGeom prst="roundRect">
            <a:avLst>
              <a:gd fmla="val 48010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258843" y="5026918"/>
            <a:ext cx="13923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g(n): Costo Real</a:t>
            </a:r>
            <a:endParaRPr b="0" i="0" sz="11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267346" y="5288299"/>
            <a:ext cx="1244965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Costo acumulado desde el origen hasta el nodo actual 'n'.</a:t>
            </a:r>
            <a:endParaRPr b="0" i="0" sz="95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2116640" y="5019013"/>
            <a:ext cx="15618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h(n): Heurística</a:t>
            </a:r>
            <a:endParaRPr b="0" i="0" sz="11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2048981" y="5324193"/>
            <a:ext cx="17073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Estimación del costo restante desde 'n' hasta el destino.</a:t>
            </a:r>
            <a:endParaRPr b="0" i="0" sz="950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3877950" y="5025825"/>
            <a:ext cx="1617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100"/>
              <a:buFont typeface="Montserrat"/>
              <a:buNone/>
            </a:pPr>
            <a:r>
              <a:rPr b="1" i="0" lang="en-US" sz="1100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f(n): Costo Total Estimado</a:t>
            </a:r>
            <a:endParaRPr b="0" i="0" sz="11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4109075" y="5411788"/>
            <a:ext cx="117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950"/>
              <a:buFont typeface="Source Sans 3"/>
              <a:buNone/>
            </a:pPr>
            <a:r>
              <a:rPr b="0" i="0" lang="en-US" sz="95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Suma de g(n) y h(n), guiando a A* hacia la ruta óptima.</a:t>
            </a:r>
            <a:endParaRPr b="0" i="0" sz="95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12837425" y="7747950"/>
            <a:ext cx="1686600" cy="445500"/>
          </a:xfrm>
          <a:prstGeom prst="rect">
            <a:avLst/>
          </a:prstGeom>
          <a:solidFill>
            <a:srgbClr val="111213"/>
          </a:solidFill>
          <a:ln cap="flat" cmpd="sng" w="9525">
            <a:solidFill>
              <a:srgbClr val="1112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" name="Google Shape;4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5125" y="5677775"/>
            <a:ext cx="3222350" cy="25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5750" y="2247651"/>
            <a:ext cx="3222362" cy="317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0848" y="2269850"/>
            <a:ext cx="3211625" cy="31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